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4152" cy="6858000"/>
          </a:xfrm>
          <a:prstGeom prst="rect">
            <a:avLst/>
          </a:prstGeom>
          <a:solidFill>
            <a:srgbClr val="2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889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39C12"/>
                </a:solidFill>
              </a:rPr>
              <a:t>SISTEM PENDUKUNG KEPUTUSAN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DETEKSI HIPERTENSI MENGGUNAKAN
DECISION TREE DAN PROBABILITY CALIBRATION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Daniko Sutopo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DD"/>
                </a:solidFill>
              </a:rPr>
              <a:t>Teknik Informatika - Sistem Pendukung Keputusan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2286000"/>
            <a:ext cx="1737360" cy="17373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4152" cy="1005840"/>
          </a:xfrm>
          <a:prstGeom prst="rect">
            <a:avLst/>
          </a:prstGeom>
          <a:solidFill>
            <a:srgbClr val="2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Daftar Isi Presentasi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F"/>
                </a:solidFill>
              </a:rPr>
              <a:t>Struktur penyampaian materi proyek akhir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37160"/>
            <a:ext cx="1188720" cy="64008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SPK
Hipertensi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822960" cy="7315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280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45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6A"/>
                </a:solidFill>
              </a:rPr>
              <a:t>Sumber data, fitur, dan ukuran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984248"/>
            <a:ext cx="18288" cy="20116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822960" cy="7315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Goals &amp; Kriteria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06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6A"/>
                </a:solidFill>
              </a:rPr>
              <a:t>Tujuan sistem, kriteria keputusan, dan alternatif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944368"/>
            <a:ext cx="18288" cy="20116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" y="3154680"/>
            <a:ext cx="822960" cy="7315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00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Metode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566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6A"/>
                </a:solidFill>
              </a:rPr>
              <a:t>Decision Tree C4.5 + Probability Calibration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3904488"/>
            <a:ext cx="18288" cy="20116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" y="4114800"/>
            <a:ext cx="822960" cy="7315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Pengolahan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26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6A"/>
                </a:solidFill>
              </a:rPr>
              <a:t>Pra-pemrosesan, encoding, training, evaluasi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4864608"/>
            <a:ext cx="18288" cy="20116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8640" y="5074920"/>
            <a:ext cx="822960" cy="7315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120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Demo Program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486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6A"/>
                </a:solidFill>
              </a:rPr>
              <a:t>Tampilan aplikasi dan alur prediksi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89920" y="1188720"/>
            <a:ext cx="1188720" cy="53035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835640" y="3017520"/>
            <a:ext cx="1097280" cy="914400"/>
          </a:xfrm>
          <a:prstGeom prst="round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5
POIN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4152" cy="1005840"/>
          </a:xfrm>
          <a:prstGeom prst="rect">
            <a:avLst/>
          </a:prstGeom>
          <a:solidFill>
            <a:srgbClr val="2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F"/>
                </a:solidFill>
              </a:rPr>
              <a:t>Sumber dan spesifikasi data yang digunakan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37160"/>
            <a:ext cx="1188720" cy="64008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SPK
Hipertensi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2743200" cy="109728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📁 Sumber Data
D:\SPK HYPERTENSION\hypertension_dataset.xlsx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188720"/>
            <a:ext cx="2743200" cy="109728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📊 Total Sample
1.985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2743200" cy="109728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🔢 Fitur
9 fitur (input) + 1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188720"/>
            <a:ext cx="2743200" cy="109728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🎯 Target
Has_Hypertension (0 = Tidak, 1 = Ya)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2468880"/>
          <a:ext cx="9326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A23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Fitur</a:t>
                      </a:r>
                    </a:p>
                  </a:txBody>
                  <a:tcPr>
                    <a:solidFill>
                      <a:srgbClr val="1A23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Tipe Data</a:t>
                      </a:r>
                    </a:p>
                  </a:txBody>
                  <a:tcPr>
                    <a:solidFill>
                      <a:srgbClr val="1A23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Nilai Original</a:t>
                      </a:r>
                    </a:p>
                  </a:txBody>
                  <a:tcPr>
                    <a:solidFill>
                      <a:srgbClr val="1A23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Encoded</a:t>
                      </a:r>
                    </a:p>
                  </a:txBody>
                  <a:tcPr>
                    <a:solidFill>
                      <a:srgbClr val="1A23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Numerik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1 - 120 tahun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digunakan langsung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Salt_Intake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Numerik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0 - 25 gram/hari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digunakan langsung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Stress_Score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Numerik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0 - 10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digunakan langsung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BP_History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Kategorik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Normal / Prehyper / Hyper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 / 2 /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Sleep_Duration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Numerik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0 - 24 jam/hari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digunakan langsung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BMI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Numerik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10 - 80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digunakan langsung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Family_History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Kategorik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No / 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 / 1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Smoking_Status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Kategorik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Non-Smoker / Smoker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 /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Exercise_Level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Kategorik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Low / Moderate / 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 / 2 / 3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4A6A"/>
                </a:solidFill>
              </a:rPr>
              <a:t>📌 Split data: 80% training (1.588) | 20% testing (397) - stratified sampling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4152" cy="1005840"/>
          </a:xfrm>
          <a:prstGeom prst="rect">
            <a:avLst/>
          </a:prstGeom>
          <a:solidFill>
            <a:srgbClr val="2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Goals &amp; Kriteria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F"/>
                </a:solidFill>
              </a:rPr>
              <a:t>Tujuan, variabel keputusan, dan alternatif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37160"/>
            <a:ext cx="1188720" cy="64008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SPK
Hipertensi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303520" cy="548640"/>
          </a:xfrm>
          <a:prstGeom prst="round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🎯  Tujuan Sistem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73152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Membantu tenaga medis mendeteksi risiko hipertensi secara otomatis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73152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514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Memberikan hasil prediksi disertai tingkat kepercayaan (confidence)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73152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Menjelaskan alur keputusan secara visual dan mudah dipahami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86200"/>
            <a:ext cx="73152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886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Meningkatkan akurasi diagnosis dibandingkan metode manual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188720"/>
            <a:ext cx="5760720" cy="548640"/>
          </a:xfrm>
          <a:prstGeom prst="roundRect">
            <a:avLst/>
          </a:prstGeom>
          <a:solidFill>
            <a:srgbClr val="2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⚖️  Kriteria &amp; Alternatif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35040" y="1828800"/>
          <a:ext cx="55778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Kriteria</a:t>
                      </a:r>
                    </a:p>
                  </a:txBody>
                  <a:tcPr>
                    <a:solidFill>
                      <a:srgbClr val="2E40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Bobot Prioritas</a:t>
                      </a:r>
                    </a:p>
                  </a:txBody>
                  <a:tcPr>
                    <a:solidFill>
                      <a:srgbClr val="2E4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Riwayat Tekanan Darah (BP_History)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28.04% - Paling Penting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Usia (Age)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13.70%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Riwayat Keluarga (Family_History)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11.76%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Tingkat Stres (Stress_Score)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10.03%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BMI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09.62%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Status Merokok (Smoking_Status)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09.06%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Asupan Garam (Salt_Intake)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08.98%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Durasi Tidur (Sleep_Duration)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08.82%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Aktivitas Fisik (Exercise_Level)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00.00% - Diabaikan model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65760" y="4663440"/>
            <a:ext cx="5486400" cy="1463040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💡 Alternatif Keputusan:
✅  Tidak Hipertensi - gaya hidup normal
⚠️  Hipertensi - konsultasi dokter diperlukan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4152" cy="1005840"/>
          </a:xfrm>
          <a:prstGeom prst="rect">
            <a:avLst/>
          </a:prstGeom>
          <a:solidFill>
            <a:srgbClr val="2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Metode - Decision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F"/>
                </a:solidFill>
              </a:rPr>
              <a:t>Algoritma utama yang digunakan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37160"/>
            <a:ext cx="1188720" cy="64008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SPK
Hipertensi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35E"/>
                </a:solidFill>
              </a:rPr>
              <a:t>Apa itu Decision Tree?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916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6A"/>
                </a:solidFill>
              </a:rPr>
              <a:t>Decision Tree (Pohon Keputusan) adalah algoritma machine learning yang bekerja seperti flowchart: setiap node mewakili sebuah pertanyaan terhadap satu fitur data, dan setiap cabang menunjukkan jawaban ya/tidak. Proses ini berulang sampai mencapai daun (leaf) yang berisi hasil akhir.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017520"/>
            <a:ext cx="2743200" cy="155448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
Root Node
Mulai dari akar, pilih fitur terbaik
untuk memisahkan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017520"/>
            <a:ext cx="2743200" cy="155448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2
Split
Bagi data menjadi dua kelompok
berdasarkan threshold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017520"/>
            <a:ext cx="2743200" cy="155448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3
Recursive
Ulangi langkah di setiap node
hingga kriteria berhenti terpenuhi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3017520"/>
            <a:ext cx="2743200" cy="155448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4
Leaf Node
Node akhir berisi kelas prediksi
(Tidak / Ya Hipertensi)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922853"/>
            <a:ext cx="5943600" cy="502920"/>
          </a:xfrm>
          <a:prstGeom prst="round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⚙️  Best Hyperparameters (GridSearchCV)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317471"/>
              </p:ext>
            </p:extLst>
          </p:nvPr>
        </p:nvGraphicFramePr>
        <p:xfrm>
          <a:off x="378823" y="4572000"/>
          <a:ext cx="5760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</a:t>
                      </a:r>
                      <a:r>
                        <a:rPr lang="en-ID" sz="13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rameter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E40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Nilai</a:t>
                      </a:r>
                    </a:p>
                  </a:txBody>
                  <a:tcPr>
                    <a:solidFill>
                      <a:srgbClr val="2E40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Keterangan</a:t>
                      </a:r>
                    </a:p>
                  </a:txBody>
                  <a:tcPr>
                    <a:solidFill>
                      <a:srgbClr val="2E4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criterion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gini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Ukuran kemurnian node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max_depth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Kedalaman maksimum pohon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min_samples_split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Min sample untuk split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min_samples_leaf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Min sample di leaf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cv_folds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</a:rPr>
                        <a:t>Cross-validation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400800" y="4983480"/>
            <a:ext cx="5943600" cy="1371600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 dirty="0">
                <a:solidFill>
                  <a:srgbClr val="1A1A2E"/>
                </a:solidFill>
              </a:rPr>
              <a:t>📐  Gini Impurity (</a:t>
            </a:r>
            <a:r>
              <a:rPr sz="1300" b="0" i="0" dirty="0" err="1">
                <a:solidFill>
                  <a:srgbClr val="1A1A2E"/>
                </a:solidFill>
              </a:rPr>
              <a:t>Kriteria</a:t>
            </a:r>
            <a:r>
              <a:rPr sz="1300" b="0" i="0" dirty="0">
                <a:solidFill>
                  <a:srgbClr val="1A1A2E"/>
                </a:solidFill>
              </a:rPr>
              <a:t> Split):
  Gini = 1 − Σ (pᵢ)²
  </a:t>
            </a:r>
            <a:r>
              <a:rPr sz="1300" b="0" i="0" dirty="0" err="1">
                <a:solidFill>
                  <a:srgbClr val="1A1A2E"/>
                </a:solidFill>
              </a:rPr>
              <a:t>Semakin</a:t>
            </a:r>
            <a:r>
              <a:rPr sz="1300" b="0" i="0" dirty="0">
                <a:solidFill>
                  <a:srgbClr val="1A1A2E"/>
                </a:solidFill>
              </a:rPr>
              <a:t> </a:t>
            </a:r>
            <a:r>
              <a:rPr sz="1300" b="0" i="0" dirty="0" err="1">
                <a:solidFill>
                  <a:srgbClr val="1A1A2E"/>
                </a:solidFill>
              </a:rPr>
              <a:t>kecil</a:t>
            </a:r>
            <a:r>
              <a:rPr sz="1300" b="0" i="0" dirty="0">
                <a:solidFill>
                  <a:srgbClr val="1A1A2E"/>
                </a:solidFill>
              </a:rPr>
              <a:t> </a:t>
            </a:r>
            <a:r>
              <a:rPr sz="1300" b="0" i="0" dirty="0" err="1">
                <a:solidFill>
                  <a:srgbClr val="1A1A2E"/>
                </a:solidFill>
              </a:rPr>
              <a:t>nilai</a:t>
            </a:r>
            <a:r>
              <a:rPr sz="1300" b="0" i="0" dirty="0">
                <a:solidFill>
                  <a:srgbClr val="1A1A2E"/>
                </a:solidFill>
              </a:rPr>
              <a:t> Gini → node </a:t>
            </a:r>
            <a:r>
              <a:rPr sz="1300" b="0" i="0" dirty="0" err="1">
                <a:solidFill>
                  <a:srgbClr val="1A1A2E"/>
                </a:solidFill>
              </a:rPr>
              <a:t>semakin</a:t>
            </a:r>
            <a:r>
              <a:rPr sz="1300" b="0" i="0" dirty="0">
                <a:solidFill>
                  <a:srgbClr val="1A1A2E"/>
                </a:solidFill>
              </a:rPr>
              <a:t> </a:t>
            </a:r>
            <a:r>
              <a:rPr sz="1300" b="0" i="0" dirty="0" err="1">
                <a:solidFill>
                  <a:srgbClr val="1A1A2E"/>
                </a:solidFill>
              </a:rPr>
              <a:t>murni</a:t>
            </a:r>
            <a:r>
              <a:rPr sz="1300" b="0" i="0" dirty="0">
                <a:solidFill>
                  <a:srgbClr val="1A1A2E"/>
                </a:solidFill>
              </a:rPr>
              <a:t> → split </a:t>
            </a:r>
            <a:r>
              <a:rPr sz="1300" b="0" i="0" dirty="0" err="1">
                <a:solidFill>
                  <a:srgbClr val="1A1A2E"/>
                </a:solidFill>
              </a:rPr>
              <a:t>semakin</a:t>
            </a:r>
            <a:r>
              <a:rPr sz="1300" b="0" i="0" dirty="0">
                <a:solidFill>
                  <a:srgbClr val="1A1A2E"/>
                </a:solidFill>
              </a:rPr>
              <a:t> </a:t>
            </a:r>
            <a:r>
              <a:rPr sz="1300" b="0" i="0" dirty="0" err="1">
                <a:solidFill>
                  <a:srgbClr val="1A1A2E"/>
                </a:solidFill>
              </a:rPr>
              <a:t>baik</a:t>
            </a:r>
            <a:endParaRPr sz="1300" b="0" i="0" dirty="0">
              <a:solidFill>
                <a:srgbClr val="1A1A2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4152" cy="1005840"/>
          </a:xfrm>
          <a:prstGeom prst="rect">
            <a:avLst/>
          </a:prstGeom>
          <a:solidFill>
            <a:srgbClr val="2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Metode - Probability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F"/>
                </a:solidFill>
              </a:rPr>
              <a:t>Isotonic Regression untuk tingkat kepercayaan yang realistis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37160"/>
            <a:ext cx="1188720" cy="64008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SPK
Hipertensi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1430000" cy="6400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1A1A2E"/>
                </a:solidFill>
              </a:rPr>
              <a:t>⚠️  Masalah: Decision Tree murni menghasilkan confidence 100% untuk hampir semua prediksi - tidak realistis!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920240"/>
            <a:ext cx="11430000" cy="594360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1A1A2E"/>
                </a:solidFill>
              </a:rPr>
              <a:t>✅  Solusi: Probability Calibration dengan Isotonic Regression (CalibratedClassifierCV, method='isotonic', cv=5)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697480"/>
            <a:ext cx="530352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📊 Sebelum Kalibrasi (Tanpa Kalibrasi)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291840"/>
          <a:ext cx="51206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Confidence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Persentase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Mayoritas prediksi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~99%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Hampir semua leaf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126480" y="2697480"/>
            <a:ext cx="566928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📊 Setelah Kalibrasi Isotonic (Realistis)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26480" y="329184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Confidence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Jumlah Sample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50.9% - 60%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sedikit (uncertain)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60% - 80%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beberapa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80% - 98.1%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mayoritas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65760" y="4754880"/>
            <a:ext cx="11430000" cy="164592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📖  Cara Kerja Isotonic Regression:
1. Model Decision Tree asli memprediksi probabilitas mentah dari proporsi kelas di leaf node.
2. Isotonic Regression membangun fungsi monoton (tabel koreksi) menggunakan algoritma PAVA (Pool Adjacent Violators) pada data cross-validation (5-fold).
3. Fungsi ini menyesuaikan probabilitas mentah agar mencerminkan frekuensi nyata kelas di populasi data - hasilnya lebih jujur dan realistis.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4152" cy="1005840"/>
          </a:xfrm>
          <a:prstGeom prst="rect">
            <a:avLst/>
          </a:prstGeom>
          <a:solidFill>
            <a:srgbClr val="2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Pengolahan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F"/>
                </a:solidFill>
              </a:rPr>
              <a:t>Tahapan lengkap dari data mentah hingga model siap pakai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37160"/>
            <a:ext cx="1188720" cy="64008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SPK
Hipertensi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1563624" cy="1188720"/>
          </a:xfrm>
          <a:prstGeom prst="round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
LOAD
Load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14600"/>
            <a:ext cx="15636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6A"/>
                </a:solidFill>
              </a:rPr>
              <a:t>Baca file Excel dari
D:\SPK HYPERTENSION\
hypertension_dataset.xlsx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8528" y="2331720"/>
            <a:ext cx="54864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002536" y="1280160"/>
            <a:ext cx="1563624" cy="1188720"/>
          </a:xfrm>
          <a:prstGeom prst="roundRect">
            <a:avLst/>
          </a:prstGeom>
          <a:solidFill>
            <a:srgbClr val="2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
PREPROCESS
Encoding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2536" y="2514600"/>
            <a:ext cx="15636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6A"/>
                </a:solidFill>
              </a:rPr>
              <a:t>Ubah label kategorik
(Normal→1, No→0, dll)
menggunakan label mapping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5304" y="2331720"/>
            <a:ext cx="54864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39312" y="1280160"/>
            <a:ext cx="1563624" cy="11887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
SPLIT
Train-Test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514600"/>
            <a:ext cx="15636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6A"/>
                </a:solidFill>
              </a:rPr>
              <a:t>80% training (1.588)
20% testing (397)
Stratified split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54864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76088" y="1280160"/>
            <a:ext cx="1563624" cy="11887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
TUNE
GridSearchCV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2514600"/>
            <a:ext cx="15636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6A"/>
                </a:solidFill>
              </a:rPr>
              <a:t>Cari hyperparameter
terbaik dengan
5-fold CV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48856" y="2331720"/>
            <a:ext cx="54864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12864" y="1280160"/>
            <a:ext cx="1563624" cy="11887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
TRAIN
Train Decision 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514600"/>
            <a:ext cx="15636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6A"/>
                </a:solidFill>
              </a:rPr>
              <a:t>Latih model dengan
hyperparameter terbaik
criterion=gini, depth=8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85632" y="2331720"/>
            <a:ext cx="54864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549640" y="1280160"/>
            <a:ext cx="1563624" cy="11887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
CALIBRATE
Isotonic Reg.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514600"/>
            <a:ext cx="15636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6A"/>
                </a:solidFill>
              </a:rPr>
              <a:t>Kalibrasi probabilitas
dengan Calibrated
ClassifierCV (cv=5)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22408" y="2331720"/>
            <a:ext cx="54864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186416" y="1280160"/>
            <a:ext cx="1563624" cy="11887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
EVALUATE
Evaluasi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6416" y="2514600"/>
            <a:ext cx="15636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A6A"/>
                </a:solidFill>
              </a:rPr>
              <a:t>Accuracy, Precision,
Recall, F1-Score
Confusion Matrix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931920"/>
            <a:ext cx="11430000" cy="502920"/>
          </a:xfrm>
          <a:prstGeom prst="round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📊  Hasil Evaluasi Model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572000"/>
            <a:ext cx="27432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Accuracy
96.73%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4572000"/>
            <a:ext cx="27432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Precision
97.07%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572000"/>
            <a:ext cx="27432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Recall
96.60%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4572000"/>
            <a:ext cx="27432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F1-Score
96.84%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6A"/>
                </a:solidFill>
              </a:rPr>
              <a:t>Confidence Distribution: Min 50.9% | Mean 93.3% | Max 98.1% | &lt;90%: 56 sample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4152" cy="1005840"/>
          </a:xfrm>
          <a:prstGeom prst="rect">
            <a:avLst/>
          </a:prstGeom>
          <a:solidFill>
            <a:srgbClr val="2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Demo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F"/>
                </a:solidFill>
              </a:rPr>
              <a:t>Tampilan aplikasi Streamlit dan alur prediksi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37160"/>
            <a:ext cx="1188720" cy="64008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SPK
Hipertensi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6858000" cy="411480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0" i="0">
                <a:solidFill>
                  <a:srgbClr val="1A1A2E"/>
                </a:solidFill>
              </a:rPr>
              <a:t>🖥️
Screenshot Aplikasi
SPK Hipertensi
(Jalankan: streamlit run spk_app.py)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188720"/>
            <a:ext cx="4389120" cy="502920"/>
          </a:xfrm>
          <a:prstGeom prst="round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Fitur Aplikasi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78308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📋  Form input 9 fitur pasien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8541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🔍  Prediksi real-time +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5877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🌳  Visualisasi alur keputusan (decision path)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99008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📐  Perhitungan probabilitas step-by-step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39242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📊  Feature importance chart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79476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🌲  Pohon keputusan lengkap (full tree)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19709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📄  Laporan training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59943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📱  Responsive layout (Streamlit)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86400"/>
            <a:ext cx="11430000" cy="594360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🔄  Alur Prediksi: Input → Encode → Decision Tree → Kalibrasi Probabilitas → Hasil + Visualisasi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4152" cy="1005840"/>
          </a:xfrm>
          <a:prstGeom prst="rect">
            <a:avLst/>
          </a:prstGeom>
          <a:solidFill>
            <a:srgbClr val="2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Kesimpulan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F"/>
                </a:solidFill>
              </a:rPr>
              <a:t>Ringkasan dan hasil akhir proyek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37160"/>
            <a:ext cx="1188720" cy="64008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SPK
Hipertensi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3657600" cy="137160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✅
Akurasi Tinggi
96.73% accuracy dengan Decision Tree + GridSearchCV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657600" cy="137160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📊
Confidence Realistis
Isotonic Regression membuat probabilitas lebih jujur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657600" cy="137160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🌳
Feature Importance
BP_History paling berpengaruh (28.04%)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26080"/>
            <a:ext cx="3657600" cy="137160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👁️
Visualisasi Jelas
Decision path &amp; pohon lengkap dapat dipahami dokter &amp; pasien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926080"/>
            <a:ext cx="3657600" cy="137160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🔢
9 Fitur
Kombinasi data demografi, gaya hidup, dan riwayat kesehatan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926080"/>
            <a:ext cx="3657600" cy="137160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📱
Web App
Aplikasi interaktif berbasis Streamlit - mudah digunakan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623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39C12"/>
                </a:solidFill>
              </a:rPr>
              <a:t>TERIMA KASIH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DD"/>
                </a:solidFill>
              </a:rPr>
              <a:t>SPK Hipertensi - Decision Tree + Probability Calibration | Daniko Sutopo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1210</Words>
  <Application>Microsoft Office PowerPoint</Application>
  <PresentationFormat>Custom</PresentationFormat>
  <Paragraphs>211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Daniko Sutopo</cp:lastModifiedBy>
  <cp:revision>2</cp:revision>
  <dcterms:created xsi:type="dcterms:W3CDTF">2013-01-27T09:14:16Z</dcterms:created>
  <dcterms:modified xsi:type="dcterms:W3CDTF">2026-05-27T05:29:59Z</dcterms:modified>
  <cp:category/>
</cp:coreProperties>
</file>